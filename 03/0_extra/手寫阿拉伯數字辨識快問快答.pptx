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8" r:id="rId12"/>
    <p:sldId id="266" r:id="rId13"/>
    <p:sldId id="267" r:id="rId14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80586" autoAdjust="0"/>
  </p:normalViewPr>
  <p:slideViewPr>
    <p:cSldViewPr>
      <p:cViewPr varScale="1">
        <p:scale>
          <a:sx n="73" d="100"/>
          <a:sy n="73" d="100"/>
        </p:scale>
        <p:origin x="-1076" y="-6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904381-C6CE-4986-972E-CEC5FF7D3492}" type="datetimeFigureOut">
              <a:rPr lang="zh-TW" altLang="en-US" smtClean="0"/>
              <a:pPr/>
              <a:t>2024/4/16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20C500-93E7-466B-9D77-DD0EC21ED9C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i.stackexchange.com/questions/26729/should-one-use-an-other-category-in-image-classification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stackoverflow.com/questions/46822813/how-to-categorize-image-as-a-not-categorized-image-by-using-convolutional-nets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zh-TW" altLang="en-US" dirty="0" smtClean="0"/>
              <a:t>寫法與訓練資料集有差異</a:t>
            </a:r>
            <a:endParaRPr lang="en-US" altLang="zh-TW" dirty="0" smtClean="0"/>
          </a:p>
          <a:p>
            <a:pPr marL="228600" indent="-228600">
              <a:buFont typeface="+mj-lt"/>
              <a:buAutoNum type="arabicPeriod"/>
            </a:pPr>
            <a:r>
              <a:rPr lang="zh-TW" altLang="en-US" dirty="0" smtClean="0"/>
              <a:t>滑鼠無筆畫粗細，無灰階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20C500-93E7-466B-9D77-DD0EC21ED9CF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1</a:t>
            </a:r>
            <a:r>
              <a:rPr lang="zh-TW" altLang="en-US" dirty="0" smtClean="0"/>
              <a:t>、</a:t>
            </a:r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20C500-93E7-466B-9D77-DD0EC21ED9CF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1</a:t>
            </a:r>
            <a:r>
              <a:rPr lang="zh-TW" altLang="en-US" dirty="0" smtClean="0"/>
              <a:t>、</a:t>
            </a:r>
            <a:r>
              <a:rPr lang="en-US" altLang="zh-TW" smtClean="0"/>
              <a:t>2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20C500-93E7-466B-9D77-DD0EC21ED9CF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1</a:t>
            </a:r>
            <a:r>
              <a:rPr lang="zh-TW" altLang="en-US" dirty="0" smtClean="0"/>
              <a:t>、</a:t>
            </a:r>
            <a:r>
              <a:rPr lang="en-US" altLang="zh-TW" smtClean="0"/>
              <a:t>2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20C500-93E7-466B-9D77-DD0EC21ED9CF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1</a:t>
            </a:r>
            <a:r>
              <a:rPr lang="zh-TW" altLang="en-US" dirty="0" smtClean="0"/>
              <a:t>、</a:t>
            </a:r>
            <a:r>
              <a:rPr lang="en-US" altLang="zh-TW" smtClean="0"/>
              <a:t>2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20C500-93E7-466B-9D77-DD0EC21ED9CF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1</a:t>
            </a:r>
            <a:r>
              <a:rPr lang="zh-TW" altLang="en-US" dirty="0" smtClean="0"/>
              <a:t>、</a:t>
            </a:r>
            <a:r>
              <a:rPr lang="en-US" altLang="zh-TW" smtClean="0"/>
              <a:t>2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20C500-93E7-466B-9D77-DD0EC21ED9CF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使用  </a:t>
            </a:r>
            <a:r>
              <a:rPr lang="en-US" altLang="zh-TW" dirty="0" smtClean="0"/>
              <a:t>03\split_digits.py </a:t>
            </a:r>
            <a:r>
              <a:rPr lang="zh-TW" altLang="en-US" dirty="0" smtClean="0"/>
              <a:t>分割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20C500-93E7-466B-9D77-DD0EC21ED9CF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rtl="0"/>
            <a:r>
              <a:rPr lang="zh-TW" alt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網路看法可參閱：</a:t>
            </a:r>
          </a:p>
          <a:p>
            <a:pPr rtl="0"/>
            <a:r>
              <a:rPr lang="en-US" altLang="zh-TW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1. </a:t>
            </a:r>
            <a:r>
              <a:rPr lang="en-US" altLang="zh-TW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/>
              </a:rPr>
              <a:t>https://ai.stackexchange.com/questions/26729/should-one-use-an-other-category-in-image-classification</a:t>
            </a:r>
            <a:endParaRPr lang="en-US" altLang="zh-TW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altLang="zh-TW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2. </a:t>
            </a:r>
            <a:r>
              <a:rPr lang="en-US" altLang="zh-TW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4"/>
              </a:rPr>
              <a:t>https://stackoverflow.com/questions/46822813/how-to-categorize-image-as-a-not-categorized-image-by-using-convolutional-nets</a:t>
            </a:r>
            <a:endParaRPr lang="en-US" altLang="zh-TW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20C500-93E7-466B-9D77-DD0EC21ED9CF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01444" y="1791929"/>
            <a:ext cx="6629400" cy="1541205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Master </a:t>
            </a:r>
            <a:r>
              <a:rPr lang="en-US" dirty="0"/>
              <a:t>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8543" y="3746087"/>
            <a:ext cx="6985994" cy="678426"/>
          </a:xfrm>
        </p:spPr>
        <p:txBody>
          <a:bodyPr>
            <a:normAutofit/>
          </a:bodyPr>
          <a:lstStyle>
            <a:lvl1pPr marL="0" indent="0" algn="l">
              <a:buNone/>
              <a:defRPr sz="2800" b="0" i="0">
                <a:solidFill>
                  <a:srgbClr val="C8006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B539B-7C09-4A27-AB34-F215D05922AC}" type="datetimeFigureOut">
              <a:rPr lang="zh-TW" altLang="en-US" smtClean="0"/>
              <a:pPr/>
              <a:t>2024/4/16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FF59-0334-471B-808D-5F78F069907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572" y="202214"/>
            <a:ext cx="8259098" cy="763526"/>
          </a:xfrm>
        </p:spPr>
        <p:txBody>
          <a:bodyPr>
            <a:normAutofit/>
          </a:bodyPr>
          <a:lstStyle>
            <a:lvl1pPr algn="l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339" y="1305232"/>
            <a:ext cx="8246070" cy="3451120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B539B-7C09-4A27-AB34-F215D05922AC}" type="datetimeFigureOut">
              <a:rPr lang="zh-TW" altLang="en-US" smtClean="0"/>
              <a:pPr/>
              <a:t>2024/4/16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FF59-0334-471B-808D-5F78F069907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575" y="318046"/>
            <a:ext cx="6489566" cy="725349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C8006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23" y="1069258"/>
            <a:ext cx="6511411" cy="3619239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B539B-7C09-4A27-AB34-F215D05922AC}" type="datetimeFigureOut">
              <a:rPr lang="zh-TW" altLang="en-US" smtClean="0"/>
              <a:pPr/>
              <a:t>2024/4/16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FF59-0334-471B-808D-5F78F069907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B539B-7C09-4A27-AB34-F215D05922AC}" type="datetimeFigureOut">
              <a:rPr lang="zh-TW" altLang="en-US" smtClean="0"/>
              <a:pPr/>
              <a:t>2024/4/16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FF59-0334-471B-808D-5F78F069907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B539B-7C09-4A27-AB34-F215D05922AC}" type="datetimeFigureOut">
              <a:rPr lang="zh-TW" altLang="en-US" smtClean="0"/>
              <a:pPr/>
              <a:t>2024/4/16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FF59-0334-471B-808D-5F78F069907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067" y="293768"/>
            <a:ext cx="8093365" cy="763525"/>
          </a:xfrm>
        </p:spPr>
        <p:txBody>
          <a:bodyPr>
            <a:normAutofit/>
          </a:bodyPr>
          <a:lstStyle>
            <a:lvl1pPr algn="l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2131" y="1611282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2131" y="2083679"/>
            <a:ext cx="4040188" cy="2276294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7252" y="1611282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7252" y="2083679"/>
            <a:ext cx="4041775" cy="2276294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B539B-7C09-4A27-AB34-F215D05922AC}" type="datetimeFigureOut">
              <a:rPr lang="zh-TW" altLang="en-US" smtClean="0"/>
              <a:pPr/>
              <a:t>2024/4/16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FF59-0334-471B-808D-5F78F069907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B539B-7C09-4A27-AB34-F215D05922AC}" type="datetimeFigureOut">
              <a:rPr lang="zh-TW" altLang="en-US" smtClean="0"/>
              <a:pPr/>
              <a:t>2024/4/16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FF59-0334-471B-808D-5F78F069907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B539B-7C09-4A27-AB34-F215D05922AC}" type="datetimeFigureOut">
              <a:rPr lang="zh-TW" altLang="en-US" smtClean="0"/>
              <a:pPr/>
              <a:t>2024/4/16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FF59-0334-471B-808D-5F78F069907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B539B-7C09-4A27-AB34-F215D05922AC}" type="datetimeFigureOut">
              <a:rPr lang="zh-TW" altLang="en-US" smtClean="0"/>
              <a:pPr/>
              <a:t>2024/4/16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FF59-0334-471B-808D-5F78F069907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B539B-7C09-4A27-AB34-F215D05922AC}" type="datetimeFigureOut">
              <a:rPr lang="zh-TW" altLang="en-US" smtClean="0"/>
              <a:pPr/>
              <a:t>2024/4/16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FF59-0334-471B-808D-5F78F069907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B539B-7C09-4A27-AB34-F215D05922AC}" type="datetimeFigureOut">
              <a:rPr lang="zh-TW" altLang="en-US" smtClean="0"/>
              <a:pPr/>
              <a:t>2024/4/16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FF59-0334-471B-808D-5F78F069907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B539B-7C09-4A27-AB34-F215D05922AC}" type="datetimeFigureOut">
              <a:rPr lang="zh-TW" altLang="en-US" smtClean="0"/>
              <a:pPr/>
              <a:t>2024/4/16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FF59-0334-471B-808D-5F78F069907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=""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EB539B-7C09-4A27-AB34-F215D05922AC}" type="datetimeFigureOut">
              <a:rPr lang="zh-TW" altLang="en-US" smtClean="0"/>
              <a:pPr/>
              <a:t>2024/4/16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54FF59-0334-471B-808D-5F78F069907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11E867DF-3DCA-4725-94F0-F2B6BD747A82}"/>
              </a:ext>
            </a:extLst>
          </p:cNvPr>
          <p:cNvSpPr txBox="1"/>
          <p:nvPr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=""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bg1"/>
          </a:solidFill>
          <a:latin typeface="微軟正黑體" pitchFamily="34" charset="-120"/>
          <a:ea typeface="微軟正黑體" pitchFamily="34" charset="-120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手寫阿拉伯數字辨識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 smtClean="0"/>
              <a:t>快問快答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TW" dirty="0" smtClean="0"/>
              <a:t>Michael Chen</a:t>
            </a:r>
          </a:p>
          <a:p>
            <a:r>
              <a:rPr lang="en-US" altLang="zh-TW" dirty="0" smtClean="0"/>
              <a:t>2024/03</a:t>
            </a:r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自己手寫</a:t>
            </a:r>
            <a:r>
              <a:rPr lang="en-US" altLang="zh-TW" dirty="0" smtClean="0"/>
              <a:t>0~9</a:t>
            </a:r>
            <a:r>
              <a:rPr lang="zh-TW" altLang="en-US" dirty="0" smtClean="0"/>
              <a:t>，預測為什麼不準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訓練週期不足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程式邏輯有誤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寫法與訓練資料集有差異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滑鼠無筆畫粗細，無灰階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以上皆是</a:t>
            </a:r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92080" y="1563638"/>
            <a:ext cx="3456384" cy="1448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特徵縮放的好處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加速優化收斂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提高準確度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改用 </a:t>
            </a:r>
            <a:r>
              <a:rPr lang="en-US" altLang="zh-TW" dirty="0" smtClean="0"/>
              <a:t>Standardization</a:t>
            </a:r>
            <a:r>
              <a:rPr lang="zh-TW" altLang="en-US" dirty="0" smtClean="0"/>
              <a:t> 更好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以上皆是</a:t>
            </a:r>
            <a:endParaRPr lang="en-US" altLang="zh-TW" dirty="0" smtClean="0"/>
          </a:p>
          <a:p>
            <a:endParaRPr lang="en-US" altLang="zh-TW" dirty="0" smtClean="0"/>
          </a:p>
        </p:txBody>
      </p:sp>
      <p:sp>
        <p:nvSpPr>
          <p:cNvPr id="4" name="矩形 3"/>
          <p:cNvSpPr/>
          <p:nvPr/>
        </p:nvSpPr>
        <p:spPr>
          <a:xfrm>
            <a:off x="3635896" y="1635646"/>
            <a:ext cx="40969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altLang="zh-TW" dirty="0" smtClean="0"/>
              <a:t>Normalization</a:t>
            </a:r>
            <a:r>
              <a:rPr lang="zh-TW" altLang="en-US" dirty="0"/>
              <a:t>：</a:t>
            </a:r>
            <a:r>
              <a:rPr lang="en-US" altLang="zh-TW" dirty="0" smtClean="0"/>
              <a:t>(x - min) / (max - min)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altLang="zh-TW" dirty="0" smtClean="0"/>
              <a:t>Standardization</a:t>
            </a:r>
            <a:r>
              <a:rPr lang="zh-TW" altLang="en-US" dirty="0" smtClean="0"/>
              <a:t>：</a:t>
            </a:r>
            <a:r>
              <a:rPr lang="en-US" altLang="zh-TW" dirty="0" smtClean="0"/>
              <a:t>(</a:t>
            </a:r>
            <a:r>
              <a:rPr lang="en-US" altLang="zh-TW" dirty="0"/>
              <a:t>x </a:t>
            </a:r>
            <a:r>
              <a:rPr lang="en-US" altLang="zh-TW" dirty="0" smtClean="0"/>
              <a:t>–</a:t>
            </a:r>
            <a:r>
              <a:rPr lang="el-GR" altLang="zh-TW" dirty="0" smtClean="0"/>
              <a:t>μ</a:t>
            </a:r>
            <a:r>
              <a:rPr lang="en-US" altLang="zh-TW" dirty="0" smtClean="0"/>
              <a:t>) /</a:t>
            </a:r>
            <a:r>
              <a:rPr lang="el-GR" altLang="zh-TW" dirty="0" smtClean="0"/>
              <a:t>σ</a:t>
            </a:r>
            <a:endParaRPr lang="zh-TW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模型結構多加幾層，準確度會如何</a:t>
            </a:r>
            <a:r>
              <a:rPr lang="en-US" altLang="zh-TW" dirty="0" smtClean="0"/>
              <a:t>?</a:t>
            </a:r>
            <a:endParaRPr lang="zh-TW" altLang="en-US" dirty="0" smtClean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提高訓練</a:t>
            </a:r>
            <a:r>
              <a:rPr lang="en-US" altLang="zh-TW" dirty="0" smtClean="0"/>
              <a:t>/</a:t>
            </a:r>
            <a:r>
              <a:rPr lang="zh-TW" altLang="en-US" dirty="0" smtClean="0"/>
              <a:t>測試資料準確度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神經層過多，測試資料準確度會下降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難以解釋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以上皆是</a:t>
            </a:r>
            <a:endParaRPr lang="en-US" altLang="zh-TW" dirty="0" smtClean="0"/>
          </a:p>
          <a:p>
            <a:endParaRPr lang="en-US" altLang="zh-TW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模型結構多加神經元，準確度會如何</a:t>
            </a:r>
            <a:r>
              <a:rPr lang="en-US" altLang="zh-TW" dirty="0" smtClean="0"/>
              <a:t>?</a:t>
            </a:r>
            <a:endParaRPr lang="zh-TW" altLang="en-US" dirty="0" smtClean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提高訓練資料準確度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提高測試資料準確度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神經層過多，測試資料準確度會下降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難以解釋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以上皆是</a:t>
            </a:r>
            <a:endParaRPr lang="en-US" altLang="zh-TW" dirty="0" smtClean="0"/>
          </a:p>
          <a:p>
            <a:endParaRPr lang="en-US" altLang="zh-TW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模型結構多加神經元，準確度會如何</a:t>
            </a:r>
            <a:r>
              <a:rPr lang="en-US" altLang="zh-TW" dirty="0" smtClean="0"/>
              <a:t>?</a:t>
            </a:r>
            <a:endParaRPr lang="zh-TW" altLang="en-US" dirty="0" smtClean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提高訓練資料準確度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提高測試資料準確度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神經層過多，測試資料準確度會下降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難以解釋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以上皆是</a:t>
            </a:r>
            <a:endParaRPr lang="en-US" altLang="zh-TW" dirty="0" smtClean="0"/>
          </a:p>
          <a:p>
            <a:endParaRPr lang="en-US" altLang="zh-TW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執行週期</a:t>
            </a:r>
            <a:r>
              <a:rPr lang="en-US" altLang="zh-TW" dirty="0" smtClean="0"/>
              <a:t>(epochs)</a:t>
            </a:r>
            <a:r>
              <a:rPr lang="zh-TW" altLang="en-US" dirty="0" smtClean="0"/>
              <a:t>加大，準確度會如何</a:t>
            </a:r>
            <a:r>
              <a:rPr lang="en-US" altLang="zh-TW" dirty="0" smtClean="0"/>
              <a:t>?</a:t>
            </a:r>
            <a:endParaRPr lang="zh-TW" altLang="en-US" dirty="0" smtClean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提高訓練資料準確度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提高測試資料準確度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過度訓練，會造成過度擬合，測試資料準確度會下降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以上皆是</a:t>
            </a:r>
            <a:endParaRPr lang="en-US" altLang="zh-TW" dirty="0" smtClean="0"/>
          </a:p>
          <a:p>
            <a:endParaRPr lang="en-US" altLang="zh-TW" dirty="0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 smtClean="0"/>
              <a:t>不使用</a:t>
            </a:r>
            <a:r>
              <a:rPr lang="en-US" altLang="zh-TW" dirty="0" err="1" smtClean="0"/>
              <a:t>sparse_categorical_crossentropy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 smtClean="0"/>
              <a:t>程式會出錯，原因為何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應採用</a:t>
            </a:r>
            <a:r>
              <a:rPr lang="en-US" altLang="zh-TW" dirty="0" smtClean="0"/>
              <a:t>MSE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實際值與預測值的</a:t>
            </a:r>
            <a:r>
              <a:rPr lang="en-US" altLang="zh-TW" dirty="0" smtClean="0"/>
              <a:t>size</a:t>
            </a:r>
            <a:r>
              <a:rPr lang="zh-TW" altLang="en-US" dirty="0" smtClean="0"/>
              <a:t>不一致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以上皆是</a:t>
            </a:r>
            <a:endParaRPr lang="en-US" altLang="zh-TW" dirty="0" smtClean="0"/>
          </a:p>
          <a:p>
            <a:endParaRPr lang="en-US" altLang="zh-TW" dirty="0" smtClean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如何觀察訓練過程已收斂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準確率在可接受範圍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後面的週期訓練準確率已趨於平緩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驗證資料與訓練資料準確度趨近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以上皆是</a:t>
            </a:r>
            <a:endParaRPr lang="en-US" altLang="zh-TW" dirty="0" smtClean="0"/>
          </a:p>
          <a:p>
            <a:endParaRPr lang="en-US" altLang="zh-TW" dirty="0" smtClean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如何調整超參數，提高準確度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執行週期</a:t>
            </a:r>
            <a:r>
              <a:rPr lang="en-US" altLang="zh-TW" dirty="0" smtClean="0"/>
              <a:t>(epochs)</a:t>
            </a:r>
            <a:r>
              <a:rPr lang="zh-TW" altLang="en-US" dirty="0" smtClean="0"/>
              <a:t>加大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修改模型結構及參數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改變損失函數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改變優化器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改變神經層參數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收集更多資料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去除錯誤資料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自建資料集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以上皆是</a:t>
            </a:r>
            <a:endParaRPr lang="en-US" altLang="zh-TW" dirty="0" smtClean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一張圖片含多個數字，如何辨識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pic>
        <p:nvPicPr>
          <p:cNvPr id="1026" name="Picture 2" descr="F:\0_AI\Gjun\00_eppy18it2\程式範例\03\images\imag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1720" y="2067694"/>
            <a:ext cx="4371975" cy="16954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有其他類別的新資料要如何處理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當前我是給了</a:t>
            </a:r>
            <a:r>
              <a:rPr lang="en-US" altLang="zh-TW" dirty="0" smtClean="0"/>
              <a:t>A\B\C</a:t>
            </a:r>
            <a:r>
              <a:rPr lang="zh-TW" altLang="en-US" dirty="0" smtClean="0"/>
              <a:t>三款圖</a:t>
            </a:r>
            <a:r>
              <a:rPr lang="en-US" altLang="zh-TW" dirty="0" smtClean="0"/>
              <a:t>, </a:t>
            </a:r>
            <a:r>
              <a:rPr lang="zh-TW" altLang="en-US" dirty="0" smtClean="0"/>
              <a:t>準確率也很不錯</a:t>
            </a:r>
            <a:r>
              <a:rPr lang="en-US" altLang="zh-TW" dirty="0" smtClean="0"/>
              <a:t>, </a:t>
            </a:r>
            <a:r>
              <a:rPr lang="zh-TW" altLang="en-US" dirty="0" smtClean="0"/>
              <a:t>但是我實際上可能會有人丟</a:t>
            </a:r>
            <a:r>
              <a:rPr lang="en-US" altLang="zh-TW" dirty="0" smtClean="0"/>
              <a:t>D/E/F</a:t>
            </a:r>
            <a:r>
              <a:rPr lang="zh-TW" altLang="en-US" dirty="0" smtClean="0"/>
              <a:t>的圖</a:t>
            </a:r>
            <a:r>
              <a:rPr lang="en-US" altLang="zh-TW" dirty="0" smtClean="0"/>
              <a:t>,</a:t>
            </a:r>
          </a:p>
          <a:p>
            <a:r>
              <a:rPr lang="zh-TW" altLang="en-US" dirty="0" smtClean="0"/>
              <a:t>遇到這種情況我希望暫時能夠拋出他不屬於</a:t>
            </a:r>
            <a:r>
              <a:rPr lang="en-US" altLang="zh-TW" dirty="0" smtClean="0"/>
              <a:t>A\B\C</a:t>
            </a:r>
            <a:r>
              <a:rPr lang="zh-TW" altLang="en-US" dirty="0" smtClean="0"/>
              <a:t>的其中一款</a:t>
            </a:r>
            <a:r>
              <a:rPr lang="en-US" altLang="zh-TW" dirty="0" smtClean="0"/>
              <a:t>, </a:t>
            </a:r>
            <a:r>
              <a:rPr lang="zh-TW" altLang="en-US" dirty="0" smtClean="0"/>
              <a:t>而不是還是給我一個分類</a:t>
            </a:r>
            <a:r>
              <a:rPr lang="en-US" altLang="zh-TW" dirty="0" smtClean="0"/>
              <a:t>,</a:t>
            </a:r>
          </a:p>
          <a:p>
            <a:r>
              <a:rPr lang="zh-TW" altLang="en-US" dirty="0" smtClean="0"/>
              <a:t>想問一下這樣我是要在原本的程序內做修正</a:t>
            </a:r>
            <a:r>
              <a:rPr lang="en-US" altLang="zh-TW" dirty="0" smtClean="0"/>
              <a:t>?</a:t>
            </a:r>
            <a:r>
              <a:rPr lang="zh-TW" altLang="en-US" dirty="0" smtClean="0"/>
              <a:t>還是另外再寫一個判斷的模型</a:t>
            </a:r>
            <a:r>
              <a:rPr lang="en-US" altLang="zh-TW" dirty="0" smtClean="0"/>
              <a:t>? 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建議方案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altLang="zh-TW" dirty="0" smtClean="0"/>
              <a:t>1. </a:t>
            </a:r>
            <a:r>
              <a:rPr lang="zh-TW" altLang="en-US" dirty="0" smtClean="0"/>
              <a:t>另建一個模型，為二分類：是</a:t>
            </a:r>
            <a:r>
              <a:rPr lang="en-US" altLang="zh-TW" dirty="0" smtClean="0"/>
              <a:t>A/B/C</a:t>
            </a:r>
            <a:r>
              <a:rPr lang="zh-TW" altLang="en-US" dirty="0" smtClean="0"/>
              <a:t>或非</a:t>
            </a:r>
            <a:r>
              <a:rPr lang="en-US" altLang="zh-TW" dirty="0" smtClean="0"/>
              <a:t>A/B/C</a:t>
            </a:r>
            <a:r>
              <a:rPr lang="zh-TW" altLang="en-US" dirty="0" smtClean="0"/>
              <a:t>，將所有</a:t>
            </a:r>
            <a:r>
              <a:rPr lang="en-US" altLang="zh-TW" dirty="0" smtClean="0"/>
              <a:t>A/B/C</a:t>
            </a:r>
            <a:r>
              <a:rPr lang="zh-TW" altLang="en-US" dirty="0" smtClean="0"/>
              <a:t>的標籤均改為</a:t>
            </a:r>
            <a:r>
              <a:rPr lang="en-US" altLang="zh-TW" dirty="0" smtClean="0"/>
              <a:t>1</a:t>
            </a:r>
            <a:r>
              <a:rPr lang="zh-TW" altLang="en-US" dirty="0" smtClean="0"/>
              <a:t>，另外將</a:t>
            </a:r>
            <a:r>
              <a:rPr lang="en-US" altLang="zh-TW" dirty="0" smtClean="0"/>
              <a:t>D/E/F</a:t>
            </a:r>
            <a:r>
              <a:rPr lang="zh-TW" altLang="en-US" dirty="0" smtClean="0"/>
              <a:t>或亂七八糟的圖片當作另一類，標籤均改為</a:t>
            </a:r>
            <a:r>
              <a:rPr lang="en-US" altLang="zh-TW" dirty="0" smtClean="0"/>
              <a:t>0</a:t>
            </a:r>
            <a:r>
              <a:rPr lang="zh-TW" altLang="en-US" dirty="0" smtClean="0"/>
              <a:t>，模型最後一層</a:t>
            </a:r>
            <a:r>
              <a:rPr lang="en-US" altLang="zh-TW" dirty="0" err="1" smtClean="0"/>
              <a:t>softmax</a:t>
            </a:r>
            <a:r>
              <a:rPr lang="zh-TW" altLang="en-US" dirty="0" smtClean="0"/>
              <a:t>改為</a:t>
            </a:r>
            <a:r>
              <a:rPr lang="en-US" altLang="zh-TW" dirty="0" smtClean="0"/>
              <a:t>sigmoid</a:t>
            </a:r>
            <a:r>
              <a:rPr lang="zh-TW" altLang="en-US" dirty="0" smtClean="0"/>
              <a:t>，進行模型訓練，新資料預測的機率若小於門檻值</a:t>
            </a:r>
            <a:r>
              <a:rPr lang="en-US" altLang="zh-TW" dirty="0" smtClean="0"/>
              <a:t>(</a:t>
            </a:r>
            <a:r>
              <a:rPr lang="zh-TW" altLang="en-US" dirty="0" smtClean="0"/>
              <a:t>例如</a:t>
            </a:r>
            <a:r>
              <a:rPr lang="en-US" altLang="zh-TW" dirty="0" smtClean="0"/>
              <a:t>0.8)</a:t>
            </a:r>
            <a:r>
              <a:rPr lang="zh-TW" altLang="en-US" dirty="0" smtClean="0"/>
              <a:t>即視為</a:t>
            </a:r>
            <a:r>
              <a:rPr lang="en-US" altLang="zh-TW" dirty="0" smtClean="0"/>
              <a:t>【</a:t>
            </a:r>
            <a:r>
              <a:rPr lang="zh-TW" altLang="en-US" dirty="0" smtClean="0"/>
              <a:t>無法辨識</a:t>
            </a:r>
            <a:r>
              <a:rPr lang="en-US" altLang="zh-TW" dirty="0" smtClean="0"/>
              <a:t>】</a:t>
            </a:r>
            <a:r>
              <a:rPr lang="zh-TW" altLang="en-US" dirty="0" smtClean="0"/>
              <a:t>，反之，則再以原模型辨識屬於哪一類。</a:t>
            </a:r>
          </a:p>
          <a:p>
            <a:pPr>
              <a:buNone/>
            </a:pPr>
            <a:r>
              <a:rPr lang="en-US" altLang="zh-TW" dirty="0" smtClean="0"/>
              <a:t>2. </a:t>
            </a:r>
            <a:r>
              <a:rPr lang="zh-TW" altLang="en-US" dirty="0" smtClean="0"/>
              <a:t>修改原模型，另增一類</a:t>
            </a:r>
            <a:r>
              <a:rPr lang="en-US" altLang="zh-TW" dirty="0" smtClean="0"/>
              <a:t>"</a:t>
            </a:r>
            <a:r>
              <a:rPr lang="zh-TW" altLang="en-US" dirty="0" smtClean="0"/>
              <a:t>其他</a:t>
            </a:r>
            <a:r>
              <a:rPr lang="en-US" altLang="zh-TW" dirty="0" smtClean="0"/>
              <a:t>"</a:t>
            </a:r>
            <a:r>
              <a:rPr lang="zh-TW" altLang="en-US" dirty="0" smtClean="0"/>
              <a:t>，將</a:t>
            </a:r>
            <a:r>
              <a:rPr lang="en-US" altLang="zh-TW" dirty="0" smtClean="0"/>
              <a:t>D/E/F</a:t>
            </a:r>
            <a:r>
              <a:rPr lang="zh-TW" altLang="en-US" dirty="0" smtClean="0"/>
              <a:t>或亂七八糟的圖片當作 </a:t>
            </a:r>
            <a:r>
              <a:rPr lang="en-US" altLang="zh-TW" dirty="0" smtClean="0"/>
              <a:t>"</a:t>
            </a:r>
            <a:r>
              <a:rPr lang="zh-TW" altLang="en-US" dirty="0" smtClean="0"/>
              <a:t>其他</a:t>
            </a:r>
            <a:r>
              <a:rPr lang="en-US" altLang="zh-TW" dirty="0" smtClean="0"/>
              <a:t>" </a:t>
            </a:r>
            <a:r>
              <a:rPr lang="zh-TW" altLang="en-US" dirty="0" smtClean="0"/>
              <a:t>類，進行訓練。</a:t>
            </a:r>
          </a:p>
          <a:p>
            <a:pPr>
              <a:buNone/>
            </a:pPr>
            <a:r>
              <a:rPr lang="en-US" altLang="zh-TW" dirty="0" smtClean="0"/>
              <a:t>3. </a:t>
            </a:r>
            <a:r>
              <a:rPr lang="zh-TW" altLang="en-US" dirty="0" smtClean="0"/>
              <a:t>使用物件偵測</a:t>
            </a:r>
            <a:r>
              <a:rPr lang="en-US" altLang="zh-TW" dirty="0" smtClean="0"/>
              <a:t>(YOLO)</a:t>
            </a:r>
            <a:r>
              <a:rPr lang="zh-TW" altLang="en-US" dirty="0" smtClean="0"/>
              <a:t>，若未偵測到</a:t>
            </a:r>
            <a:r>
              <a:rPr lang="en-US" altLang="zh-TW" dirty="0" smtClean="0"/>
              <a:t>A/B/C</a:t>
            </a:r>
            <a:r>
              <a:rPr lang="zh-TW" altLang="en-US" dirty="0" smtClean="0"/>
              <a:t>，即視為 </a:t>
            </a:r>
            <a:r>
              <a:rPr lang="en-US" altLang="zh-TW" dirty="0" smtClean="0"/>
              <a:t>"</a:t>
            </a:r>
            <a:r>
              <a:rPr lang="zh-TW" altLang="en-US" dirty="0" smtClean="0"/>
              <a:t>其他</a:t>
            </a:r>
            <a:r>
              <a:rPr lang="en-US" altLang="zh-TW" dirty="0" smtClean="0"/>
              <a:t>" </a:t>
            </a:r>
            <a:r>
              <a:rPr lang="zh-TW" altLang="en-US" dirty="0" smtClean="0"/>
              <a:t>類</a:t>
            </a:r>
            <a:r>
              <a:rPr lang="zh-TW" altLang="en-US" dirty="0" smtClean="0"/>
              <a:t>。</a:t>
            </a:r>
            <a:r>
              <a:rPr lang="zh-TW" altLang="en-US" dirty="0" smtClean="0"/>
              <a:t/>
            </a:r>
            <a:br>
              <a:rPr lang="zh-TW" altLang="en-US" dirty="0" smtClean="0"/>
            </a:br>
            <a:endParaRPr lang="zh-TW" altLang="en-US" dirty="0" smtClean="0"/>
          </a:p>
          <a:p>
            <a:r>
              <a:rPr lang="zh-TW" altLang="en-US" dirty="0" smtClean="0"/>
              <a:t>建議使用</a:t>
            </a:r>
            <a:r>
              <a:rPr lang="en-US" altLang="zh-TW" dirty="0" smtClean="0"/>
              <a:t>1</a:t>
            </a:r>
            <a:r>
              <a:rPr lang="zh-TW" altLang="en-US" dirty="0" smtClean="0"/>
              <a:t>、</a:t>
            </a:r>
            <a:r>
              <a:rPr lang="en-US" altLang="zh-TW" dirty="0" smtClean="0"/>
              <a:t>3</a:t>
            </a:r>
            <a:r>
              <a:rPr lang="zh-TW" altLang="en-US" dirty="0" smtClean="0"/>
              <a:t>，第</a:t>
            </a:r>
            <a:r>
              <a:rPr lang="en-US" altLang="zh-TW" dirty="0" smtClean="0"/>
              <a:t>3</a:t>
            </a:r>
            <a:r>
              <a:rPr lang="zh-TW" altLang="en-US" dirty="0" smtClean="0"/>
              <a:t>種較費力需標註物件位置，也可使用程式輔助，第</a:t>
            </a:r>
            <a:r>
              <a:rPr lang="en-US" altLang="zh-TW" dirty="0" smtClean="0"/>
              <a:t>2</a:t>
            </a:r>
            <a:r>
              <a:rPr lang="zh-TW" altLang="en-US" dirty="0" smtClean="0"/>
              <a:t>種適用時機為</a:t>
            </a:r>
            <a:r>
              <a:rPr lang="en-US" altLang="zh-TW" dirty="0" smtClean="0"/>
              <a:t>"</a:t>
            </a:r>
            <a:r>
              <a:rPr lang="zh-TW" altLang="en-US" dirty="0" smtClean="0"/>
              <a:t>其他</a:t>
            </a:r>
            <a:r>
              <a:rPr lang="en-US" altLang="zh-TW" dirty="0" smtClean="0"/>
              <a:t>" </a:t>
            </a:r>
            <a:r>
              <a:rPr lang="zh-TW" altLang="en-US" dirty="0" smtClean="0"/>
              <a:t>類只有</a:t>
            </a:r>
            <a:r>
              <a:rPr lang="en-US" altLang="zh-TW" dirty="0" smtClean="0"/>
              <a:t>D/E/F</a:t>
            </a:r>
            <a:r>
              <a:rPr lang="zh-TW" altLang="en-US" dirty="0" smtClean="0"/>
              <a:t>時使用。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160932-laboratory-template-16x9</Template>
  <TotalTime>67</TotalTime>
  <Words>520</Words>
  <Application>Microsoft Office PowerPoint</Application>
  <PresentationFormat>如螢幕大小 (16:9)</PresentationFormat>
  <Paragraphs>86</Paragraphs>
  <Slides>13</Slides>
  <Notes>8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4" baseType="lpstr">
      <vt:lpstr>Office 佈景主題</vt:lpstr>
      <vt:lpstr>手寫阿拉伯數字辨識 快問快答</vt:lpstr>
      <vt:lpstr>自己手寫0~9，預測為什麼不準?</vt:lpstr>
      <vt:lpstr>特徵縮放的好處</vt:lpstr>
      <vt:lpstr>模型結構多加幾層，準確度會如何?</vt:lpstr>
      <vt:lpstr>模型結構多加神經元，準確度會如何?</vt:lpstr>
      <vt:lpstr>模型結構多加神經元，準確度會如何?</vt:lpstr>
      <vt:lpstr>執行週期(epochs)加大，準確度會如何?</vt:lpstr>
      <vt:lpstr>不使用sparse_categorical_crossentropy 程式會出錯，原因為何?</vt:lpstr>
      <vt:lpstr>如何觀察訓練過程已收斂?</vt:lpstr>
      <vt:lpstr>如何調整超參數，提高準確度?</vt:lpstr>
      <vt:lpstr>一張圖片含多個數字，如何辨識?</vt:lpstr>
      <vt:lpstr>有其他類別的新資料要如何處理?</vt:lpstr>
      <vt:lpstr>建議方案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手寫阿拉伯數字辨識 快問快答</dc:title>
  <dc:creator>Michael Chen</dc:creator>
  <cp:lastModifiedBy>Michael Chen</cp:lastModifiedBy>
  <cp:revision>5</cp:revision>
  <dcterms:created xsi:type="dcterms:W3CDTF">2024-03-28T09:52:10Z</dcterms:created>
  <dcterms:modified xsi:type="dcterms:W3CDTF">2024-04-16T11:40:44Z</dcterms:modified>
</cp:coreProperties>
</file>